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70" r:id="rId21"/>
    <p:sldId id="271" r:id="rId22"/>
    <p:sldId id="272" r:id="rId23"/>
    <p:sldId id="273" r:id="rId24"/>
    <p:sldId id="274" r:id="rId25"/>
    <p:sldId id="275" r:id="rId26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43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Mid-semester review of TraceMap. In one line: we built a working tool that opens a website like a phone user, finds every company it talks to, proves where personal data leaks, and we ran it on 50 Indian websites.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Idea-stage slides from the synopsis (introduction, SWOT, PERT roadmap) are removed; new slides show what is built, how we tested it, and pilot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idea as the synopsis, now with status. The two bold lines are what changed since the synopsis: it is built, tested, and has run on real Indian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numbers from the pilot on 7 Oct 2026. Government sites are lightest, health, shopping and education heaviest. Caveat: convenience sample, passive scan.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upfront: each technique has prior art. Our contribution is combining them on Indian sectors with proof per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DPDP Rules were notified on 13 Nov 2025; core duties apply from about May 2027, so a measurement now is a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status column. Be clear the score is deliberately not shown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six stages as the synopsis: crawl, detect, ID graph (collusion), leak trace, risk score, measure. Stages 1-4 and 6 (pilot) are built; the score is second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to right: input, the crawler records everything, four analysis modules run on the stored record, results go to storage, the API and the web app. Analysis runs on saved crawls without a browser, so four people work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question will be: how do you know it is right? Answer: planted ground truth, automated comparison, and a negative control proving we do not invent leaks.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is a module with an owner. Everything listed runs today and is covered by automated tests.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Switch to the live demo here: python -m testbed and python -m tracemap serve --allow-local. Screenshots are from our test website.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Added the papers behind the methods we reimplemented and the Indian prior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changes came from an internal review before building. They make the project more defensible: we claim only what we can prove.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Replaces the synopsis PERT chart with the concrete second-half plan and owners.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pic>
        <p:nvPicPr>
          <p:cNvPr id="4" name="Image 1" descr="/tmp/build/gptw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2608"/>
            <a:ext cx="566928" cy="9692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12344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Project · Mid-Semester Review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371600" y="196596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Title: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TraceMap: A Web Privacy &amp; Security Intelligence Platform for Detecting Third-Party Tracker Collusion Networks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7955280" y="4709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Sumitra Ma'am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45720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Kavya Jain  (CSF B3)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Krati Dhenkawat  (DS B1)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Nityavardhan Singh Hartala  (CSF B1)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Kartik Arora  (CSF B1)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234440"/>
          <a:ext cx="5852160" cy="392277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Abstract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Literature Review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Problem Statement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Objectives &amp; Status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Methodology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Architecture (Implemented)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 Completed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Application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Testing &amp; 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Pilot Study Results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Changes Since the Synopsis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Remaining Work &amp; Timeline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46B0F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References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Abstract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website quietly loads hidden third parties that can track you and read what you type into forms.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TraceMap opens a site like a phone user, records every company it contacts, and names who they are.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types a fake email and phone number into forms, never submits, and proves which companies received them.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finds companies that pass the same user ID between them, confirmed by comparing two separate visitors.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finding links to the exact network request that proves it.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the first half is built and tested (crawler, detection, leak test, ID-sharing graph, web app, 44 automated tests).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50-site pilot on Indian government, banking, health, shopping and education sites is complete (49 scanned).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Literature Review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11480" y="1024128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 work we build on, and the gap TraceMap fills: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63040"/>
          <a:ext cx="11384280" cy="422452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showed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TraceMap builds on 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OpenWPM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(Englehardt &amp; Narayanan, ACM CCS 2016)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Standard tool for measuring tracking on a million sites; rules for spotting user-ID cookies.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 reuse its two-visitor ID rules inside our own phone-browser crawler (OpenWPM is Firefox-only).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Cookie Synchronization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(Papadopoulos et al., WWW 2019)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Trackers swap your ID to merge their profiles of you.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 confirm ID sharing per site with two separate visitors and draw it as an ID-sharing map.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Leaky Forms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(Senol et al., USENIX Security 2022)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Sites leak your email before you click submit (EU and US top sites).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 reimplement its canary method with +91 phone formats and apply it to Indian sectors.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Blacklight; Indian studies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(The Markup 2020; ICWSM 2021; WebSci 2022)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Single-page privacy inspector; tracking on Indian news sites; cookies on .gov.in sites.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study combines verified leaks, ID sharing and script risk across Indian sectors: our gap.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cannot see which companies collect your data on a website, or where it goes.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do not answer three questions together:</a:t>
            </a:r>
            <a:endParaRPr lang="en-US" sz="1700" dirty="0"/>
          </a:p>
          <a:p>
            <a:pPr marL="508000" lvl="1" indent="-254000" algn="l">
              <a:lnSpc>
                <a:spcPct val="1060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companies pass your identity between them?</a:t>
            </a:r>
            <a:endParaRPr lang="en-US" sz="1700" dirty="0"/>
          </a:p>
          <a:p>
            <a:pPr marL="508000" lvl="1" indent="-254000" algn="l">
              <a:lnSpc>
                <a:spcPct val="1060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your personal data leave before you press Submit, and to whom?</a:t>
            </a:r>
            <a:endParaRPr lang="en-US" sz="1700" dirty="0"/>
          </a:p>
          <a:p>
            <a:pPr marL="508000" lvl="1" indent="-254000" algn="l">
              <a:lnSpc>
                <a:spcPct val="106000"/>
              </a:lnSpc>
              <a:spcAft>
                <a:spcPts val="900"/>
              </a:spcAft>
              <a:buSzPct val="100000"/>
              <a:buChar char="▪"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exposed is the site to tracking and to script attacks?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Indian websites are barely measured, and DPDP Act duties for websites apply from about May 2027.</a:t>
            </a:r>
            <a:endParaRPr lang="en-US" sz="1700" dirty="0"/>
          </a:p>
          <a:p>
            <a:pPr marL="254000" indent="-254000" algn="l">
              <a:lnSpc>
                <a:spcPct val="106000"/>
              </a:lnSpc>
              <a:spcAft>
                <a:spcPts val="1500"/>
              </a:spcAft>
              <a:buSzPct val="100000"/>
              <a:buChar char="•"/>
            </a:pPr>
            <a:r>
              <a:rPr lang="en-US" sz="17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need one tool that proves each finding, and a study of Indian sites taken before enforcement.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Objectives &amp; Status</a:t>
            </a:r>
            <a:endParaRPr lang="en-US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338560" cy="43342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1920240"/>
                <a:gridCol w="57607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Objective (from synopsis)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Evidence today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Find and label hidden trackers and risky scripts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4 tracker datasets, 4 filter lists, India vendor list; fingerprinting, session-recording and form-reading flags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Reveal how trackers share your identity (graph)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Partly done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Per-site ID-sharing map with two-visitor confirmation; all-site communities in second half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Trace data leaks with canary values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Done on test site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5 of 5 planted leaks found, 0 false; real-site tests after ethics approval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One clear risk score with reasons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Reasons done; score planned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Plain-English findings with proof; score shown only after validation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Study real Indian websites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Pilot done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49 of 50 sites scanned; ~1,500-site study next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Show everything in a simple, interactive picture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Web app: live scan, case file, leak replay, ID-sharing map, pilot page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Methodology</a:t>
            </a:r>
            <a:endParaRPr lang="en-US" sz="3000" dirty="0"/>
          </a:p>
        </p:txBody>
      </p:sp>
      <p:pic>
        <p:nvPicPr>
          <p:cNvPr id="5" name="Image 1" descr="/tmp/build/met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143000"/>
            <a:ext cx="9692640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System Architecture (Implemented)</a:t>
            </a:r>
            <a:endParaRPr lang="en-US" sz="3000" dirty="0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400" b="1">
                <a:solidFill>
                  <a:srgbClr val="222222"/>
                </a:solidFill>
                <a:latin typeface="Times New Roman"/>
              </a:rPr>
              <a:t>Input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Website address from the web app or the command line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Batch list for the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400" b="1">
                <a:solidFill>
                  <a:srgbClr val="222222"/>
                </a:solidFill>
                <a:latin typeface="Times New Roman"/>
              </a:rPr>
              <a:t>Public data (used by Detect)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DuckDuckGo, Ghostery, Disconnect, third-party-web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EasyPrivacy, EasyList, IndianList, AdGuard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Our India vendor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32588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400" b="1">
                <a:solidFill>
                  <a:srgbClr val="222222"/>
                </a:solidFill>
                <a:latin typeface="Times New Roman"/>
              </a:rPr>
              <a:t>Crawler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Playwright + installed Chrome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Chrome DevTools Protocol: every request, its script, POST bodies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Phone emulation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Visitors A, B, A2 + leak visitor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Cookie banners (autoconsent)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~80 browser-API hooks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Bot-wall detection, time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Detect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Owner, type, tracker; risky behaviour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Leak test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Canary email/phone, ~48,000 disguises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5468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ID graph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Two-visitor ID rule,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2514600" cy="77724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Findings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Plain-English reasons +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3258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Storage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JSON records, script files, SQLite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60604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API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FastAPI, live progress (SSE), proof 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8862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300" b="1">
                <a:solidFill>
                  <a:srgbClr val="222222"/>
                </a:solidFill>
                <a:latin typeface="Times New Roman"/>
              </a:rPr>
              <a:t>Web app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33333"/>
                </a:solidFill>
                <a:latin typeface="Times New Roman"/>
              </a:rPr>
              <a:t>React: case file, leak replay, ID map, pilot page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011680"/>
            <a:ext cx="411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06440" y="3108960"/>
            <a:ext cx="411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32520" y="1856231"/>
            <a:ext cx="411480" cy="125272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24160" y="237744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24160" y="36576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5212080"/>
            <a:ext cx="11201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Stack: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Python 3.11 · Playwright · Chrome DevTools Protocol · NetworkX · FastAPI · React + TypeScript · Cytoscape.js · SQLite</a:t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Changed from synopsis: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SQLite + JSON instead of PostgreSQL for now; the risk-score model moves to the second half; own Chrome crawler instead of OpenWPM.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Work Completed</a:t>
            </a:r>
            <a:endParaRPr lang="en-US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338560" cy="44439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76809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What is implemented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Crawler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Phone emulation; visitors A, B and revisit; landing + inner pages; every request with the script that sent it; POST bodies; cookies with who set them; cookie-banner modes; bot-wall detection; time limits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Kavya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Detection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Owners and types from 4 datasets; 4 filter lists incl. IndianList; India vendor list (23); fingerprinting, session-recording, form-reading flags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Nityavardhan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Leak test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Fake email + team phone; fields in pages and iframes; submission blocked in code; ~48,000 hashed/encoded variants; proof for every leak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Kartik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ID-sharing graph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Two-visitor ID rule (Englehardt &amp; Narayanan 2016); per-site graph; confidence per link; same-company grouping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Krati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Web app and API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Live scan progress; case file with verdict; proof view; leak replay; ID-sharing map; companies; pilot page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Kartik, Kavya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Measurement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Resumable batch runner with per-site time limit; 50-site pilot; sector report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Krati, all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Web Application</a:t>
            </a:r>
            <a:endParaRPr lang="en-US" sz="3000" dirty="0"/>
          </a:p>
        </p:txBody>
      </p:sp>
      <p:pic>
        <p:nvPicPr>
          <p:cNvPr id="5" name="Picture 4" descr="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5532120" cy="345757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636008"/>
            <a:ext cx="5532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Times New Roman"/>
              </a:rPr>
              <a:t>Case file: verdict stamp, summary numbers, findings with Show proof</a:t>
            </a:r>
          </a:p>
        </p:txBody>
      </p:sp>
      <p:pic>
        <p:nvPicPr>
          <p:cNvPr id="7" name="Picture 6" descr="r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143000"/>
            <a:ext cx="5486400" cy="2430641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359359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Times New Roman"/>
              </a:rPr>
              <a:t>Leak replay: typed fields (top) and the companies that received them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59352"/>
            <a:ext cx="4023360" cy="2172614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0332720" y="402336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Times New Roman"/>
              </a:rPr>
              <a:t>ID-sharing map: AdNet A passes the user ID to Broker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55321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Times New Roman"/>
              </a:rPr>
              <a:t>Every finding links to proof: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the exact request, the script that sent it, and the leaked value highlighted.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Times New Roman"/>
              </a:rPr>
              <a:t>Live demo: </a:t>
            </a:r>
            <a:r>
              <a:rPr sz="1400" b="0">
                <a:solidFill>
                  <a:srgbClr val="333333"/>
                </a:solidFill>
                <a:latin typeface="Times New Roman"/>
              </a:rPr>
              <a:t>scan our test shop, then open stored Indian sites from Case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Testing &amp; Validation</a:t>
            </a:r>
            <a:endParaRPr lang="en-US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Times New Roman"/>
              </a:rPr>
              <a:t>A test website where we planted the answers (fake Indian shop with six fake companies):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713232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10058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Planted on the test site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Planted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Found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Third-party companies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Form leaks (email, phone; hashed, base64, URL-encoded)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Wrong leak recipients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Cookie-sync pair (ID passed by redirect)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Fingerprinting script (canvas + audio)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Bot-check page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92440" y="155448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500" b="1">
                <a:solidFill>
                  <a:srgbClr val="222222"/>
                </a:solidFill>
                <a:latin typeface="Times New Roman"/>
              </a:rPr>
              <a:t>Negative control: 0 hits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Times New Roman"/>
              </a:rPr>
              <a:t>Same traffic searched for an email we never typed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017520"/>
            <a:ext cx="3611880" cy="100584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500" b="1">
                <a:solidFill>
                  <a:srgbClr val="222222"/>
                </a:solidFill>
                <a:latin typeface="Times New Roman"/>
              </a:rPr>
              <a:t>44 automated tests pass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Times New Roman"/>
              </a:rPr>
              <a:t>Unit, API and full end-to-end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420624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500" b="1">
                <a:solidFill>
                  <a:srgbClr val="222222"/>
                </a:solidFill>
                <a:latin typeface="Times New Roman"/>
              </a:rPr>
              <a:t>Checked on real sites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333333"/>
                </a:solidFill>
                <a:latin typeface="Times New Roman"/>
              </a:rPr>
              <a:t>AJIO bot wall confirmed by hand; clean site gives zero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Not yet measured: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accuracy on real sites (second half: hand-labelled samples and comparison with Blacklight).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Pilot Study Results</a:t>
            </a:r>
            <a:endParaRPr lang="en-US" sz="30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Times New Roman"/>
              </a:rPr>
              <a:t>50 Indian sites, 10 per sector · passive phone-browser scan, no cookie choice made, no form typing · 49 completed</a:t>
            </a:r>
          </a:p>
        </p:txBody>
      </p:sp>
      <p:pic>
        <p:nvPicPr>
          <p:cNvPr id="6" name="Picture 5" descr="pilot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949440" cy="2737658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4270248"/>
            <a:ext cx="6949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Times New Roman"/>
              </a:rPr>
              <a:t>Tracking domains per site; each dot is a site, the tick is the sector median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08760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800" b="1">
                <a:solidFill>
                  <a:srgbClr val="222222"/>
                </a:solidFill>
                <a:latin typeface="Times New Roman"/>
              </a:rPr>
              <a:t>48 / 49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sites loaded trackers before any cookie choice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496312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800" b="1">
                <a:solidFill>
                  <a:srgbClr val="222222"/>
                </a:solidFill>
                <a:latin typeface="Times New Roman"/>
              </a:rPr>
              <a:t>13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median tracking domains per landing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483864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800" b="1">
                <a:solidFill>
                  <a:srgbClr val="222222"/>
                </a:solidFill>
                <a:latin typeface="Times New Roman"/>
              </a:rPr>
              <a:t>8 / 49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load a session-recording tool (incl. Axis Bank, Fortis, Narayana)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471416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EAF5FE"/>
          </a:solidFill>
          <a:ln w="15875">
            <a:solidFill>
              <a:srgbClr val="46B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/>
          <a:lstStyle/>
          <a:p>
            <a:pPr algn="ctr"/>
            <a:r>
              <a:rPr sz="1800" b="1">
                <a:solidFill>
                  <a:srgbClr val="222222"/>
                </a:solidFill>
                <a:latin typeface="Times New Roman"/>
              </a:rPr>
              <a:t>19 / 49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333333"/>
                </a:solidFill>
                <a:latin typeface="Times New Roman"/>
              </a:rPr>
              <a:t>use Indian martech (CleverTap on 10 sites)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69494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By sector (median):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government 2 · banking 10 · health 13.5 · e-commerce 15 · education 16.5</a:t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Only 8 of 49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showed a cookie banner; 8.7% of third parties are on no global list.</a:t>
            </a:r>
          </a:p>
          <a:p>
            <a:pPr algn="l"/>
            <a:r>
              <a:rPr sz="1300" b="1">
                <a:solidFill>
                  <a:srgbClr val="333333"/>
                </a:solidFill>
                <a:latin typeface="Times New Roman"/>
              </a:rPr>
              <a:t>SBI has moved to sbi.bank.in </a:t>
            </a:r>
            <a:r>
              <a:rPr sz="1300" b="0">
                <a:solidFill>
                  <a:srgbClr val="333333"/>
                </a:solidFill>
                <a:latin typeface="Times New Roman"/>
              </a:rPr>
              <a:t>(RBI .bank.in migration); AJIO blocked our browser.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Times New Roman"/>
              </a:rPr>
              <a:t>Convenience sample to test the pipeline, not the study; session recording = capability, not observed recording.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Changes Since the Synopsis</a:t>
            </a:r>
            <a:endParaRPr lang="en-US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338559" cy="433425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846320"/>
                <a:gridCol w="3749039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Synopsis said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Now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Why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“Collusion network”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“Identifier-flow network”: ID-sharing evidence with a confidence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Shared IDs are evidence, not proof of intent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Louvain on each site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Per-site map now; Leiden + random-network tests on all sites together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One site’s graph is too small for reliable communities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Risk score from an ML model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Reasons now; score only after validation against expert rankings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No ground-truth labels for a “risky site”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First study of the Indian web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First sector study combining leaks, ID sharing and script risk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Indian news and .gov.in studies already exist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Desktop crawl; PostgreSQL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Phone browser; SQLite + JSON for now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~65% of Indian traffic is mobile; simpler setup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Build on OpenWPM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Own Chrome crawler reusing DuckDuckGo open-source parts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OpenWPM is Firefox-only, no Windows support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pic>
        <p:nvPicPr>
          <p:cNvPr id="3" name="Image 0" descr="/tmp/build/upes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Remaining Work &amp; Timeline</a:t>
            </a:r>
            <a:endParaRPr lang="en-US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338560" cy="44439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81381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When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Owner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46B0F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Now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Submit ethics protocol; register canary email domain; two-person check of the India vendor list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All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Weeks 8–9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Label ~300 ID links by hand; calibrated link confidence; communities tested against random networks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Krati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Weeks 8–10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Security checks: outdated JavaScript libraries (retire.js, OSV), integrity checks, CSP, abandoned script domains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Nityavardhan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Weeks 9–11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Full study: ~1,500 sites from CrUX India, 5 sectors; real-site form tests; comparison with Blacklight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Kavya, all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Weeks 10–12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Validated risk score with uncertainty range; sector statistics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Krati, Kartik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1">
                          <a:solidFill>
                            <a:srgbClr val="333333"/>
                          </a:solidFill>
                          <a:latin typeface="Times New Roman"/>
                        </a:rPr>
                        <a:t>Weeks 11–13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Evidence download, sector dashboard, paper, dataset release, disclosures to sites and CERT-In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250" b="0">
                          <a:solidFill>
                            <a:srgbClr val="333333"/>
                          </a:solidFill>
                          <a:latin typeface="Times New Roman"/>
                        </a:rPr>
                        <a:t>Kartik, all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29184" y="2743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References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1115568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Acar, G. et al. (2014). The Web Never Forgets: Persistent Tracking Mechanisms in the Wild. ACM CCS.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Englehardt, S. &amp; Narayanan, A. (2016). Online Tracking: A 1-Million-Site Measurement and Analysis. ACM CCS. (OpenWPM)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Englehardt, S., Han, J. &amp; Narayanan, A. (2018). I Never Signed Up for This! Privacy Implications of Email Tracking. PETS.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Papadopoulos, P. et al. (2019). Cookie Synchronization: Everything You Always Wanted to Know But Were Afraid to Ask. WWW.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Bashir, M. A. &amp; Wilson, C. (2018). Diffusion of User Tracking Data in the Online Advertising Ecosystem. PETS.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Senol, A. et al. (2022). Leaky Forms: A Study of Email and Password Exfiltration Before Form Submission. USENIX Security.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Iqbal, U., Englehardt, S. &amp; Shafiq, Z. (2021). Fingerprinting the Fingerprinters. IEEE S&amp;P.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Dimova, Y. et al. (2021). The CNAME of the Game: Large-scale Analysis of DNS-based Tracking Evasion. PETS.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Traag, V., Waltman, L. &amp; van Eck, N. (2019). From Louvain to Leiden: Guaranteeing Well-Connected Communities. Scientific Reports.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Demir, N. et al. (2022). Reproducibility and Replicability of Web Measurement Studies. WWW.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Agarwal, P. et al. (2021). Under the Spotlight: Web Tracking in Indian Partisan News Websites. ICWSM.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Götze, M. et al. (2022). Measuring Web Cookies in Governmental Websites. ACM WebSci.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Markup (2020). Blacklight: A Real-Time Website Privacy Inspector. themarkup.org.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DuckDuckGo. Tracker Radar and autoconsent (open source). github.com/duckduckgo.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50" dirty="0" b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MeitY, Govt. of India (2023, 2025). Digital Personal Data Protection Act and DPDP Rules.</a:t>
            </a:r>
            <a:endParaRPr lang="en-US" sz="1200" dirty="0"/>
          </a:p>
        </p:txBody>
      </p:sp>
      <p:pic>
        <p:nvPicPr>
          <p:cNvPr id="7" name="Image 0" descr="/tmp/build/upes_logo.jpg">
            <a:extLst>
              <a:ext uri="{FF2B5EF4-FFF2-40B4-BE49-F238E27FC236}">
                <a16:creationId xmlns:a16="http://schemas.microsoft.com/office/drawing/2014/main" id="{AF6320AD-FD08-43E3-4C57-7A944DC09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28016"/>
            <a:ext cx="1335024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" y="82296"/>
            <a:ext cx="11987784" cy="6684264"/>
          </a:xfrm>
          <a:prstGeom prst="rect">
            <a:avLst/>
          </a:prstGeom>
          <a:ln w="28575">
            <a:solidFill>
              <a:srgbClr val="46B0F9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3931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46B0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</a:t>
            </a:r>
            <a:r>
              <a:rPr lang="en-US" sz="4000" b="1" dirty="0">
                <a:solidFill>
                  <a:srgbClr val="46B0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6600" b="1" dirty="0">
                <a:solidFill>
                  <a:srgbClr val="46B0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</a:t>
            </a:r>
            <a:endParaRPr lang="en-US" sz="4000" dirty="0"/>
          </a:p>
        </p:txBody>
      </p:sp>
      <p:pic>
        <p:nvPicPr>
          <p:cNvPr id="9" name="Image 0" descr="/tmp/build/upes_logo.jpg">
            <a:extLst>
              <a:ext uri="{FF2B5EF4-FFF2-40B4-BE49-F238E27FC236}">
                <a16:creationId xmlns:a16="http://schemas.microsoft.com/office/drawing/2014/main" id="{29DF1486-D7AB-B3AA-87F3-DDA440F5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072" y="1664899"/>
            <a:ext cx="5544807" cy="2392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1177</Words>
  <Application>Microsoft Office PowerPoint</Application>
  <PresentationFormat>Widescreen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Kavya Jain</cp:lastModifiedBy>
  <cp:revision>2</cp:revision>
  <dcterms:created xsi:type="dcterms:W3CDTF">2026-08-21T03:26:59Z</dcterms:created>
  <dcterms:modified xsi:type="dcterms:W3CDTF">2026-08-21T03:34:16Z</dcterms:modified>
</cp:coreProperties>
</file>