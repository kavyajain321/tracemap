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70" r:id="rId21"/>
    <p:sldId id="271" r:id="rId22"/>
    <p:sldId id="272" r:id="rId23"/>
    <p:sldId id="273" r:id="rId24"/>
    <p:sldId id="274" r:id="rId25"/>
    <p:sldId id="275" r:id="rId26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0439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Mid-semester review of TraceMap. In one line: we built a working tool that opens a website like a phone user, finds every company it talks to, proves where personal data leaks, and we ran it on 50 Indian websites.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Idea-stage slides from the synopsis (introduction, SWOT, PERT roadmap) are removed; new slides show what is built, how we tested it, and pilot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idea as the synopsis, now with status. The two bold lines are what changed since the synopsis: it is built, tested, and has run on real Indian 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Real numbers from the pilot on 7 Oct 2026. Government sites are lightest, health, shopping and education heaviest. Caveat: convenience sample, passive scan.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upfront: each technique has prior art. Our contribution is combining them on Indian sectors with proof per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DPDP Rules were notified on 13 Nov 2025; core duties apply from about May 2027, so a measurement now is a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status column. Be clear the score is deliberately not shown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six stages as the synopsis: crawl, detect, ID graph (collusion), leak trace, risk score, measure. Stages 1-4 and 6 (pilot) are built; the score is second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Left to right: input, the crawler records everything, four analysis modules run on the stored record, results go to storage, the API and the web app. Analysis runs on saved crawls without a browser, so four people work in parallel.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first question will be: how do you know it is right? Answer: planted ground truth, automated comparison, and a negative control proving we do not invent leaks.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row is a module with an owner. Everything listed runs today and is covered by automated tests.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Switch to the live demo here: python -m testbed and python -m tracemap serve --allow-local. Screenshots are from our test website.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Added the papers behind the methods we reimplemented and the Indian prior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changes came from an internal review before building. They make the project more defensible: we claim only what we can prove.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Replaces the synopsis PERT chart with the concrete second-half plan and owners.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1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pic>
        <p:nvPicPr>
          <p:cNvPr id="4" name="Image 1" descr="/tmp/build/gptw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92608"/>
            <a:ext cx="566928" cy="96926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71600" y="123444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i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Major Project · Mid-Semester Review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1371600" y="1965960"/>
            <a:ext cx="9418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Title:</a:t>
            </a:r>
            <a:endParaRPr lang="en-US" sz="18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TraceMap: A Web Privacy &amp; Security Intelligence Platform for Detecting Third-Party Tracker Collusion Networks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7955280" y="470916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Guided by: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Sumitra Ma'am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502920" y="457200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Presented by: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Kavya Jain  (CSF B3)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Krati Dhenkawat  (DS B1)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Nityavardhan Singh Hartala  (CSF B1)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Kartik Arora  (CSF B1)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1234440"/>
          <a:ext cx="5852160" cy="392277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Abstract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Literature Review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Problem Statement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Objectives &amp; Status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Methodology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System Architecture (Implemented)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Work Completed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Web Application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Testing &amp; Validation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Pilot Study Results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Changes Since the Synopsis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Remaining Work &amp; Timeline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46B0F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References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Abstract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website quietly loads hidden third parties that can track you and read what you type into forms.</a:t>
            </a:r>
            <a:endParaRPr lang="en-US" sz="1700" dirty="0"/>
          </a:p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TraceMap opens a site like a phone user, records every company it contacts, and names who they are.</a:t>
            </a:r>
            <a:endParaRPr lang="en-US" sz="1700" dirty="0"/>
          </a:p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types a fake email and phone number into forms, never submits, and proves which companies received them.</a:t>
            </a:r>
            <a:endParaRPr lang="en-US" sz="1700" dirty="0"/>
          </a:p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finds companies that pass the same user ID between them, confirmed by comparing two separate visitors.</a:t>
            </a:r>
            <a:endParaRPr lang="en-US" sz="1700" dirty="0"/>
          </a:p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finding links to the exact network request that proves it.</a:t>
            </a:r>
            <a:endParaRPr lang="en-US" sz="1700" dirty="0"/>
          </a:p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Status: the first half is built and tested (crawler, detection, leak test, ID-sharing graph, web app, 44 automated tests).</a:t>
            </a:r>
            <a:endParaRPr lang="en-US" sz="1700" dirty="0"/>
          </a:p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50-site pilot on Indian government, banking, health, shopping and education sites is complete (49 scanned).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Literature Review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11480" y="1024128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 work we build on, and the gap TraceMap fills: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84280" cy="4224528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Study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showed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How TraceMap builds on it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OpenWPM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(Englehardt &amp; Narayanan, ACM CCS 2016)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Standard tool for measuring tracking on a million sites; rules for spotting user-ID cookies.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 reuse its two-visitor ID rules inside our own phone-browser crawler (OpenWPM is Firefox-only).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Cookie Synchronization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(Papadopoulos et al., WWW 2019)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Trackers swap your ID to merge their profiles of you.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 confirm ID sharing per site with two separate visitors and draw it as an ID-sharing map.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Leaky Forms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(Senol et al., USENIX Security 2022)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Sites leak your email before you click submit (EU and US top sites).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 reimplement its canary method with +91 phone formats and apply it to Indian sectors.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Blacklight; Indian studies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(The Markup 2020; ICWSM 2021; WebSci 2022)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Single-page privacy inspector; tracking on Indian news sites; cookies on .gov.in sites.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 study combines verified leaks, ID sharing and script risk across Indian sectors: our gap.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Problem Statement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 cannot see which companies collect your data on a website, or where it goes.</a:t>
            </a:r>
            <a:endParaRPr lang="en-US" sz="1700" dirty="0"/>
          </a:p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Existing tools do not answer three questions together:</a:t>
            </a:r>
            <a:endParaRPr lang="en-US" sz="1700" dirty="0"/>
          </a:p>
          <a:p>
            <a:pPr marL="508000" lvl="1" indent="-254000" algn="l">
              <a:lnSpc>
                <a:spcPct val="1060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companies pass your identity between them?</a:t>
            </a:r>
            <a:endParaRPr lang="en-US" sz="1700" dirty="0"/>
          </a:p>
          <a:p>
            <a:pPr marL="508000" lvl="1" indent="-254000" algn="l">
              <a:lnSpc>
                <a:spcPct val="1060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Does your personal data leave before you press Submit, and to whom?</a:t>
            </a:r>
            <a:endParaRPr lang="en-US" sz="1700" dirty="0"/>
          </a:p>
          <a:p>
            <a:pPr marL="508000" lvl="1" indent="-254000" algn="l">
              <a:lnSpc>
                <a:spcPct val="1060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exposed is the site to tracking and to script attacks?</a:t>
            </a:r>
            <a:endParaRPr lang="en-US" sz="1700" dirty="0"/>
          </a:p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Indian websites are barely measured, and DPDP Act duties for websites apply from about May 2027.</a:t>
            </a:r>
            <a:endParaRPr lang="en-US" sz="1700" dirty="0"/>
          </a:p>
          <a:p>
            <a:pPr marL="254000" indent="-254000" algn="l">
              <a:lnSpc>
                <a:spcPct val="106000"/>
              </a:lnSpc>
              <a:spcAft>
                <a:spcPts val="1500"/>
              </a:spcAft>
              <a:buSzPct val="100000"/>
              <a:buChar char="•"/>
            </a:pPr>
            <a:r>
              <a:rPr lang="en-US" sz="17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need one tool that proves each finding, and a study of Indian sites taken before enforcement.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Objectives &amp; Status</a:t>
            </a:r>
            <a:endParaRPr lang="en-US" sz="30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338560" cy="43342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657600"/>
                <a:gridCol w="1920240"/>
                <a:gridCol w="576072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Objective (from synopsis)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Evidence today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Find and label hidden trackers and risky scripts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Done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4 tracker datasets, 4 filter lists, India vendor list; fingerprinting, session-recording and form-reading flags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Reveal how trackers share your identity (graph)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Partly done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Per-site ID-sharing map with two-visitor confirmation; all-site communities in second half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Trace data leaks with canary values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Done on test site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5 of 5 planted leaks found, 0 false; real-site tests after ethics approval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One clear risk score with reasons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Reasons done; score planned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Plain-English findings with proof; score shown only after validation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Study real Indian websites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Pilot done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49 of 50 sites scanned; ~1,500-site study next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Show everything in a simple, interactive picture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Done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Web app: live scan, case file, leak replay, ID-sharing map, pilot page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Methodology</a:t>
            </a:r>
            <a:endParaRPr lang="en-US" sz="3000" dirty="0"/>
          </a:p>
        </p:txBody>
      </p:sp>
      <p:pic>
        <p:nvPicPr>
          <p:cNvPr id="5" name="Image 1" descr="/tmp/build/meth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1143000"/>
            <a:ext cx="9692640" cy="54498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System Architecture (Implemented)</a:t>
            </a:r>
            <a:endParaRPr lang="en-US" sz="3000" dirty="0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400" b="1">
                <a:solidFill>
                  <a:srgbClr val="222222"/>
                </a:solidFill>
                <a:latin typeface="Times New Roman"/>
              </a:rPr>
              <a:t>Input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Website address from the web app or the command line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Batch list for the pilot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6324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400" b="1">
                <a:solidFill>
                  <a:srgbClr val="222222"/>
                </a:solidFill>
                <a:latin typeface="Times New Roman"/>
              </a:rPr>
              <a:t>Public data (used by Detect)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DuckDuckGo, Ghostery, Disconnect, third-party-web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EasyPrivacy, EasyList, IndianList, AdGuard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Our India vendor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325880"/>
            <a:ext cx="2743200" cy="361188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400" b="1">
                <a:solidFill>
                  <a:srgbClr val="222222"/>
                </a:solidFill>
                <a:latin typeface="Times New Roman"/>
              </a:rPr>
              <a:t>Crawler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Playwright + installed Chrome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Chrome DevTools Protocol: every request, its script, POST bodies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Phone emulation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Visitors A, B, A2 + leak visitor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Cookie banners (autoconsent)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~80 browser-API hooks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Bot-wall detection, time limits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300" b="1">
                <a:solidFill>
                  <a:srgbClr val="222222"/>
                </a:solidFill>
                <a:latin typeface="Times New Roman"/>
              </a:rPr>
              <a:t>Detect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3333"/>
                </a:solidFill>
                <a:latin typeface="Times New Roman"/>
              </a:rPr>
              <a:t>Owner, type, tracker; risky behaviour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4028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300" b="1">
                <a:solidFill>
                  <a:srgbClr val="222222"/>
                </a:solidFill>
                <a:latin typeface="Times New Roman"/>
              </a:rPr>
              <a:t>Leak test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3333"/>
                </a:solidFill>
                <a:latin typeface="Times New Roman"/>
              </a:rPr>
              <a:t>Canary email/phone, ~48,000 disguises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15468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300" b="1">
                <a:solidFill>
                  <a:srgbClr val="222222"/>
                </a:solidFill>
                <a:latin typeface="Times New Roman"/>
              </a:rPr>
              <a:t>ID graph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3333"/>
                </a:solidFill>
                <a:latin typeface="Times New Roman"/>
              </a:rPr>
              <a:t>Two-visitor ID rule, confidence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6908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300" b="1">
                <a:solidFill>
                  <a:srgbClr val="222222"/>
                </a:solidFill>
                <a:latin typeface="Times New Roman"/>
              </a:rPr>
              <a:t>Findings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3333"/>
                </a:solidFill>
                <a:latin typeface="Times New Roman"/>
              </a:rPr>
              <a:t>Plain-English reasons + proof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132588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300" b="1">
                <a:solidFill>
                  <a:srgbClr val="222222"/>
                </a:solidFill>
                <a:latin typeface="Times New Roman"/>
              </a:rPr>
              <a:t>Storage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3333"/>
                </a:solidFill>
                <a:latin typeface="Times New Roman"/>
              </a:rPr>
              <a:t>JSON records, script files, SQLite 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60604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300" b="1">
                <a:solidFill>
                  <a:srgbClr val="222222"/>
                </a:solidFill>
                <a:latin typeface="Times New Roman"/>
              </a:rPr>
              <a:t>API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3333"/>
                </a:solidFill>
                <a:latin typeface="Times New Roman"/>
              </a:rPr>
              <a:t>FastAPI, live progress (SSE), proof lookup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88620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300" b="1">
                <a:solidFill>
                  <a:srgbClr val="222222"/>
                </a:solidFill>
                <a:latin typeface="Times New Roman"/>
              </a:rPr>
              <a:t>Web app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333333"/>
                </a:solidFill>
                <a:latin typeface="Times New Roman"/>
              </a:rPr>
              <a:t>React: case file, leak replay, ID map, pilot page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60" y="2011680"/>
            <a:ext cx="411480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06440" y="3108960"/>
            <a:ext cx="411480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732520" y="1856231"/>
            <a:ext cx="411480" cy="1252729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24160" y="2377440"/>
            <a:ext cx="0" cy="22860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424160" y="3657600"/>
            <a:ext cx="0" cy="22860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5212080"/>
            <a:ext cx="11201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Times New Roman"/>
              </a:rPr>
              <a:t>Stack: </a:t>
            </a:r>
            <a:r>
              <a:rPr sz="1300" b="0">
                <a:solidFill>
                  <a:srgbClr val="333333"/>
                </a:solidFill>
                <a:latin typeface="Times New Roman"/>
              </a:rPr>
              <a:t>Python 3.11 · Playwright · Chrome DevTools Protocol · NetworkX · FastAPI · React + TypeScript · Cytoscape.js · SQLite</a:t>
            </a:r>
          </a:p>
          <a:p>
            <a:pPr algn="l"/>
            <a:r>
              <a:rPr sz="1300" b="1">
                <a:solidFill>
                  <a:srgbClr val="333333"/>
                </a:solidFill>
                <a:latin typeface="Times New Roman"/>
              </a:rPr>
              <a:t>Changed from synopsis: </a:t>
            </a:r>
            <a:r>
              <a:rPr sz="1300" b="0">
                <a:solidFill>
                  <a:srgbClr val="333333"/>
                </a:solidFill>
                <a:latin typeface="Times New Roman"/>
              </a:rPr>
              <a:t>SQLite + JSON instead of PostgreSQL for now; the risk-score model moves to the second half; own Chrome crawler instead of OpenWPM.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Work Completed</a:t>
            </a:r>
            <a:endParaRPr lang="en-US" sz="30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338560" cy="44439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932688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What is implemented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Crawler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Phone emulation; visitors A, B and revisit; landing + inner pages; every request with the script that sent it; POST bodies; cookies with who set them; cookie-banner modes; bot-wall detection; time limits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Detection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Owners and types from 4 datasets; 4 filter lists incl. IndianList; India vendor list (23); fingerprinting, session-recording, form-reading flags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Leak test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Fake email + team phone; fields in pages and iframes; submission blocked in code; ~48,000 hashed/encoded variants; proof for every leak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ID-sharing graph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Two-visitor ID rule (Englehardt &amp; Narayanan 2016); per-site graph; confidence per link; same-company grouping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Web app and API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Live scan progress; case file with verdict; proof view; leak replay; ID-sharing map; companies; pilot page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Measurement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Resumable batch runner with per-site time limit; 50-site pilot; sector report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Web Application</a:t>
            </a:r>
            <a:endParaRPr lang="en-US" sz="3000" dirty="0"/>
          </a:p>
        </p:txBody>
      </p:sp>
      <p:pic>
        <p:nvPicPr>
          <p:cNvPr id="5" name="Picture 4" descr="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532120" cy="3457575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4636008"/>
            <a:ext cx="5532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Times New Roman"/>
              </a:rPr>
              <a:t>Case file: verdict stamp, summary numbers, findings with Show proof</a:t>
            </a:r>
          </a:p>
        </p:txBody>
      </p:sp>
      <p:pic>
        <p:nvPicPr>
          <p:cNvPr id="7" name="Picture 6" descr="re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43000"/>
            <a:ext cx="5486400" cy="2430641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3593592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Times New Roman"/>
              </a:rPr>
              <a:t>Leak replay: typed fields (top) and the companies that received them</a:t>
            </a:r>
          </a:p>
        </p:txBody>
      </p:sp>
      <p:pic>
        <p:nvPicPr>
          <p:cNvPr id="9" name="Picture 8" descr="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59352"/>
            <a:ext cx="4023360" cy="217261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10332720" y="4023360"/>
            <a:ext cx="1417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Times New Roman"/>
              </a:rPr>
              <a:t>ID-sharing map: AdNet A passes the user ID to Broker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553212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Times New Roman"/>
              </a:rPr>
              <a:t>Every finding links to proof: </a:t>
            </a:r>
            <a:r>
              <a:rPr sz="1400" b="0">
                <a:solidFill>
                  <a:srgbClr val="333333"/>
                </a:solidFill>
                <a:latin typeface="Times New Roman"/>
              </a:rPr>
              <a:t>the exact request, the script that sent it, and the leaked value highlighted.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Times New Roman"/>
              </a:rPr>
              <a:t>Live demo: </a:t>
            </a:r>
            <a:r>
              <a:rPr sz="1400" b="0">
                <a:solidFill>
                  <a:srgbClr val="333333"/>
                </a:solidFill>
                <a:latin typeface="Times New Roman"/>
              </a:rPr>
              <a:t>scan our test shop, then open stored Indian sites from Case files.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Testing &amp; Validation</a:t>
            </a:r>
            <a:endParaRPr lang="en-US" sz="3000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</a:rPr>
              <a:t>A test website where we planted the answers (fake Indian shop with six fake companies):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7132320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120640"/>
                <a:gridCol w="1005840"/>
                <a:gridCol w="100584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Planted on the test site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Planted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Found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Third-party companies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Form leaks (email, phone; hashed, base64, URL-encoded)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Wrong leak recipients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Cookie-sync pair (ID passed by redirect)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Fingerprinting script (canvas + audio)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Bot-check page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092440" y="155448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500" b="1">
                <a:solidFill>
                  <a:srgbClr val="222222"/>
                </a:solidFill>
                <a:latin typeface="Times New Roman"/>
              </a:rPr>
              <a:t>Negative control: 0 hits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333333"/>
                </a:solidFill>
                <a:latin typeface="Times New Roman"/>
              </a:rPr>
              <a:t>Same traffic searched for an email we never typed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301752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500" b="1">
                <a:solidFill>
                  <a:srgbClr val="222222"/>
                </a:solidFill>
                <a:latin typeface="Times New Roman"/>
              </a:rPr>
              <a:t>44 automated tests pass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333333"/>
                </a:solidFill>
                <a:latin typeface="Times New Roman"/>
              </a:rPr>
              <a:t>Unit, API and full end-to-end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420624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500" b="1">
                <a:solidFill>
                  <a:srgbClr val="222222"/>
                </a:solidFill>
                <a:latin typeface="Times New Roman"/>
              </a:rPr>
              <a:t>Checked on real sites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333333"/>
                </a:solidFill>
                <a:latin typeface="Times New Roman"/>
              </a:rPr>
              <a:t>AJIO bot wall confirmed by hand; clean site gives zero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Times New Roman"/>
              </a:rPr>
              <a:t>Not yet measured: </a:t>
            </a:r>
            <a:r>
              <a:rPr sz="1300" b="0">
                <a:solidFill>
                  <a:srgbClr val="333333"/>
                </a:solidFill>
                <a:latin typeface="Times New Roman"/>
              </a:rPr>
              <a:t>accuracy on real sites (second half: hand-labelled samples and comparison with Blacklight).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Pilot Study Results</a:t>
            </a:r>
            <a:endParaRPr lang="en-US" sz="3000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Times New Roman"/>
              </a:rPr>
              <a:t>50 Indian sites, 10 per sector · passive phone-browser scan, no cookie choice made, no form typing · 49 completed</a:t>
            </a:r>
          </a:p>
        </p:txBody>
      </p:sp>
      <p:pic>
        <p:nvPicPr>
          <p:cNvPr id="6" name="Picture 5" descr="pilo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6949440" cy="2737658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6949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Times New Roman"/>
              </a:rPr>
              <a:t>Tracking domains per site; each dot is a site, the tick is the sector median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508760"/>
            <a:ext cx="3977639" cy="86868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800" b="1">
                <a:solidFill>
                  <a:srgbClr val="222222"/>
                </a:solidFill>
                <a:latin typeface="Times New Roman"/>
              </a:rPr>
              <a:t>48 / 49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sites loaded trackers before any cookie choice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2496312"/>
            <a:ext cx="3977639" cy="86868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800" b="1">
                <a:solidFill>
                  <a:srgbClr val="222222"/>
                </a:solidFill>
                <a:latin typeface="Times New Roman"/>
              </a:rPr>
              <a:t>13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median tracking domains per landing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3483864"/>
            <a:ext cx="3977639" cy="86868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800" b="1">
                <a:solidFill>
                  <a:srgbClr val="222222"/>
                </a:solidFill>
                <a:latin typeface="Times New Roman"/>
              </a:rPr>
              <a:t>8 / 49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load a session-recording tool (incl. Axis Bank, Fortis, Narayana)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4471416"/>
            <a:ext cx="3977639" cy="868680"/>
          </a:xfrm>
          <a:prstGeom prst="roundRect">
            <a:avLst>
              <a:gd name="adj" fmla="val 8000"/>
            </a:avLst>
          </a:prstGeom>
          <a:solidFill>
            <a:srgbClr val="EAF5FE"/>
          </a:solidFill>
          <a:ln w="15875">
            <a:solidFill>
              <a:srgbClr val="46B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ctr"/>
            <a:r>
              <a:rPr sz="1800" b="1">
                <a:solidFill>
                  <a:srgbClr val="222222"/>
                </a:solidFill>
                <a:latin typeface="Times New Roman"/>
              </a:rPr>
              <a:t>19 / 49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Times New Roman"/>
              </a:rPr>
              <a:t>use Indian martech (CleverTap on 10 sites)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69494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Times New Roman"/>
              </a:rPr>
              <a:t>By sector (median): </a:t>
            </a:r>
            <a:r>
              <a:rPr sz="1300" b="0">
                <a:solidFill>
                  <a:srgbClr val="333333"/>
                </a:solidFill>
                <a:latin typeface="Times New Roman"/>
              </a:rPr>
              <a:t>government 2 · banking 10 · health 13.5 · e-commerce 15 · education 16.5</a:t>
            </a:r>
          </a:p>
          <a:p>
            <a:pPr algn="l"/>
            <a:r>
              <a:rPr sz="1300" b="1">
                <a:solidFill>
                  <a:srgbClr val="333333"/>
                </a:solidFill>
                <a:latin typeface="Times New Roman"/>
              </a:rPr>
              <a:t>Only 8 of 49 </a:t>
            </a:r>
            <a:r>
              <a:rPr sz="1300" b="0">
                <a:solidFill>
                  <a:srgbClr val="333333"/>
                </a:solidFill>
                <a:latin typeface="Times New Roman"/>
              </a:rPr>
              <a:t>showed a cookie banner; 8.7% of third parties are on no global list.</a:t>
            </a:r>
          </a:p>
          <a:p>
            <a:pPr algn="l"/>
            <a:r>
              <a:rPr sz="1300" b="1">
                <a:solidFill>
                  <a:srgbClr val="333333"/>
                </a:solidFill>
                <a:latin typeface="Times New Roman"/>
              </a:rPr>
              <a:t>SBI has moved to sbi.bank.in </a:t>
            </a:r>
            <a:r>
              <a:rPr sz="1300" b="0">
                <a:solidFill>
                  <a:srgbClr val="333333"/>
                </a:solidFill>
                <a:latin typeface="Times New Roman"/>
              </a:rPr>
              <a:t>(RBI .bank.in migration); AJIO blocked our browser.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Times New Roman"/>
              </a:rPr>
              <a:t>Convenience sample to test the pipeline, not the study; session recording = capability, not observed recording.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Changes Since the Synopsis</a:t>
            </a:r>
            <a:endParaRPr lang="en-US" sz="30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338559" cy="43342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846320"/>
                <a:gridCol w="3749039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Synopsis said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Now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“Collusion network”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“Identifier-flow network”: ID-sharing evidence with a confidence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Shared IDs are evidence, not proof of intent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Louvain on each site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Per-site map now; Leiden + random-network tests on all sites together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One site’s graph is too small for reliable communities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Risk score from an ML model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Reasons now; score only after validation against expert rankings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No ground-truth labels for a “risky site”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First study of the Indian web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First sector study combining leaks, ID sharing and script risk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Indian news and .gov.in studies already exist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Desktop crawl; PostgreSQL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Phone browser; SQLite + JSON for now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~65% of Indian traffic is mobile; simpler setup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Build on OpenWPM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Own Chrome crawler reusing DuckDuckGo open-source parts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OpenWPM is Firefox-only, no Windows support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pic>
        <p:nvPicPr>
          <p:cNvPr id="3" name="Image 0" descr="/tmp/build/upes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Remaining Work &amp; Timeline</a:t>
            </a:r>
            <a:endParaRPr lang="en-US" sz="30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338560" cy="44439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813816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When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Work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Owner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46B0FA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Now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Submit ethics protocol; register canary email domain; two-person check of the India vendor list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All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Weeks 8–9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Label ~300 ID links by hand; calibrated link confidence; communities tested against random networks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Krati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Weeks 8–10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Security checks: outdated JavaScript libraries (retire.js, OSV), integrity checks, CSP, abandoned script domains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Nityavardhan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Weeks 9–11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Full study: ~1,500 sites from CrUX India, 5 sectors; real-site form tests; comparison with Blacklight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Kavya, all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Weeks 10–12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Validated risk score with uncertainty range; sector statistics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Krati, Kartik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333333"/>
                          </a:solidFill>
                          <a:latin typeface="Times New Roman"/>
                        </a:rPr>
                        <a:t>Weeks 11–13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Evidence download, sector dashboard, paper, dataset release, disclosures to sites and CERT-In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Times New Roman"/>
                        </a:rPr>
                        <a:t>Kartik, all</a:t>
                      </a: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329184" y="274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References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078992"/>
            <a:ext cx="11155680" cy="539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Acar, G. et al. (2014). The Web Never Forgets: Persistent Tracking Mechanisms in the Wild. ACM CCS.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Englehardt, S. &amp; Narayanan, A. (2016). Online Tracking: A 1-Million-Site Measurement and Analysis. ACM CCS. (OpenWPM)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Englehardt, S., Han, J. &amp; Narayanan, A. (2018). I Never Signed Up for This! Privacy Implications of Email Tracking. PETS.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Papadopoulos, P. et al. (2019). Cookie Synchronization: Everything You Always Wanted to Know But Were Afraid to Ask. WWW.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Bashir, M. A. &amp; Wilson, C. (2018). Diffusion of User Tracking Data in the Online Advertising Ecosystem. PETS.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Senol, A. et al. (2022). Leaky Forms: A Study of Email and Password Exfiltration Before Form Submission. USENIX Security.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Iqbal, U., Englehardt, S. &amp; Shafiq, Z. (2021). Fingerprinting the Fingerprinters. IEEE S&amp;P.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Dimova, Y. et al. (2021). The CNAME of the Game: Large-scale Analysis of DNS-based Tracking Evasion. PETS.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Traag, V., Waltman, L. &amp; van Eck, N. (2019). From Louvain to Leiden: Guaranteeing Well-Connected Communities. Scientific Reports.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Demir, N. et al. (2022). Reproducibility and Replicability of Web Measurement Studies. WWW.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Agarwal, P. et al. (2021). Under the Spotlight: Web Tracking in Indian Partisan News Websites. ICWSM.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Götze, M. et al. (2022). Measuring Web Cookies in Governmental Websites. ACM WebSci.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Markup (2020). Blacklight: A Real-Time Website Privacy Inspector. themarkup.org.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DuckDuckGo. Tracker Radar and autoconsent (open source). github.com/duckduckgo.</a:t>
            </a:r>
            <a:endParaRPr lang="en-US" sz="12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150" dirty="0" b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MeitY, Govt. of India (2023, 2025). Digital Personal Data Protection Act and DPDP Rules.</a:t>
            </a:r>
            <a:endParaRPr lang="en-US" sz="1200" dirty="0"/>
          </a:p>
        </p:txBody>
      </p:sp>
      <p:pic>
        <p:nvPicPr>
          <p:cNvPr id="7" name="Image 0" descr="/tmp/build/upes_logo.jpg">
            <a:extLst>
              <a:ext uri="{FF2B5EF4-FFF2-40B4-BE49-F238E27FC236}">
                <a16:creationId xmlns:a16="http://schemas.microsoft.com/office/drawing/2014/main" id="{AF6320AD-FD08-43E3-4C57-7A944DC09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28016"/>
            <a:ext cx="1335024" cy="5760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" y="82296"/>
            <a:ext cx="11987784" cy="6684264"/>
          </a:xfrm>
          <a:prstGeom prst="rect">
            <a:avLst/>
          </a:prstGeom>
          <a:ln w="28575">
            <a:solidFill>
              <a:srgbClr val="46B0F9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393192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46B0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</a:t>
            </a:r>
            <a:r>
              <a:rPr lang="en-US" sz="4000" b="1" dirty="0">
                <a:solidFill>
                  <a:srgbClr val="46B0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6600" b="1" dirty="0">
                <a:solidFill>
                  <a:srgbClr val="46B0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</a:t>
            </a:r>
            <a:endParaRPr lang="en-US" sz="4000" dirty="0"/>
          </a:p>
        </p:txBody>
      </p:sp>
      <p:pic>
        <p:nvPicPr>
          <p:cNvPr id="9" name="Image 0" descr="/tmp/build/upes_logo.jpg">
            <a:extLst>
              <a:ext uri="{FF2B5EF4-FFF2-40B4-BE49-F238E27FC236}">
                <a16:creationId xmlns:a16="http://schemas.microsoft.com/office/drawing/2014/main" id="{29DF1486-D7AB-B3AA-87F3-DDA440F53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2072" y="1664899"/>
            <a:ext cx="5544807" cy="23926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1177</Words>
  <Application>Microsoft Office PowerPoint</Application>
  <PresentationFormat>Widescreen</PresentationFormat>
  <Paragraphs>140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Kavya Jain</cp:lastModifiedBy>
  <cp:revision>2</cp:revision>
  <dcterms:created xsi:type="dcterms:W3CDTF">2026-08-21T03:26:59Z</dcterms:created>
  <dcterms:modified xsi:type="dcterms:W3CDTF">2026-08-21T03:34:16Z</dcterms:modified>
</cp:coreProperties>
</file>